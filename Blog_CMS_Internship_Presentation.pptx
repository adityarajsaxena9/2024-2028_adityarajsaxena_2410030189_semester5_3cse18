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panel, introduce the project title, your name/roll number, and the internship organizations (AICTE, UniConverge Technologies, upSkill Campus). Mention the internship ran 25 July to 21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roadmap briefly: you'll cover the project introduction, internship details, the problem it solves, technology used, architecture, API/database design, the development process, and finally security, testing and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CMS concept in plain terms, then walk through the two user types shown on the right: guests who just read posts, and authenticated users who manage content via the dashboard, editor and page builder.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internship logistics: provider, role, AICTE collaboration, and remote working hours. Then walk through the four-week timeline shown on the right, which structured the whole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scattered, code-heavy blog workflows are hard to maintain. State that the project's goal was one unified, secure, browser-based system, then list the concrete requirements it had to satisfy.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six core objectives — architecture, modular frontend, the drag-and-drop builder, REST APIs, JWT authentication, and testing/version control. These map directly to the skills the internship targeted.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scope spans the full stack — from user management and blog CRUD through content editing, the page builder, backend, database, frontend and testing. Future items like roles, media and search were kept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stack by layer: React ecosystem on the frontend, Node/Express/JWT/bcrypt on the backend, MongoDB and Mongoose for data, and Postman/Git/VS Code as the supporting toolset.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 left to right: the user's browser talks to the React frontend, which calls the Express REST API, which persists to MongoDB. Below that, point out the two backend responsibilities — authentication and blog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core collections — User and BlogPost — and explain the one-to-many relationship through the author reference field, which is also how ownership-based authorization is enforced.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validation rules on both models — e.g. unique lowercase emails, hashed passwords, and the publishStatus enum that defaults to draft so nothing publishes accidentally.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endpoint table by access level: public routes for browsing and auth, authenticated routes for creating posts, and author-only routes for editing or deleting a specific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CRUD operations end to end, then emphasize the safeguard underneath: every operation is authenticated, and update/delete are further restricted to the post's own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development followed six incremental stages rather than a big-bang build — starting from requirement study through to final testing and refinement, each verified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four-week cadence: Week 1 was planning, Week 2 built the core architecture, Week 3 added content management, and Week 4 layered in security, responsiveness and final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authentication (who the user is) and authorization (what they're allowed to do) are handled separately: hashed passwords, short-lived JWTs, and a server-side author check on every edit or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panel through a few representative checks — especially the author-restriction test, which confirms one user genuinely cannot modify another user's post even with a valid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real debugging journey — integration errors caught with Postman, routing/middleware order issues, auth state falling out of sync, and responsive layout fixes. This shows practical problem-solving, not just a finished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eight concrete deliverables across both columns, then close with the point that this is a reusable foundation — future work could add roles, media handling, search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summarizing the end-to-end journey from requirements to a tested, feature-complete build, mention the future scope items briefly, and thank the panel before opening the floor to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846320"/>
            <a:ext cx="4114800" cy="411480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48640"/>
            <a:ext cx="566928" cy="566928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REPORT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Content Management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(Blog CMS)  —  Full-Stack Web Application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7863840" cy="1965960"/>
          </a:xfrm>
          <a:prstGeom prst="roundRect">
            <a:avLst>
              <a:gd name="adj" fmla="val 3256"/>
            </a:avLst>
          </a:prstGeom>
          <a:solidFill>
            <a:srgbClr val="1F335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Raj Saxena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2410030189   |   B.Tech CSE   |   Semester V   |   Batch 2024–2028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Engineering, IILM University, Greater Noida, U.P.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AICTE  •  UniConverge Technologies  •  upSkill Campus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687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Date: 21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98424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253288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78308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9328" y="198424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0" name="Text 8"/>
          <p:cNvSpPr/>
          <p:nvPr/>
        </p:nvSpPr>
        <p:spPr>
          <a:xfrm>
            <a:off x="452932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9328" y="253288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Organization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3400" y="178308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4568" y="198424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4" name="Text 12"/>
          <p:cNvSpPr/>
          <p:nvPr/>
        </p:nvSpPr>
        <p:spPr>
          <a:xfrm>
            <a:off x="83545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4568" y="253288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53872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" y="408736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Scope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8160" y="333756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9328" y="353872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2" name="Text 20"/>
          <p:cNvSpPr/>
          <p:nvPr/>
        </p:nvSpPr>
        <p:spPr>
          <a:xfrm>
            <a:off x="452932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9328" y="408736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3400" y="333756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54568" y="353872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6" name="Text 24"/>
          <p:cNvSpPr/>
          <p:nvPr/>
        </p:nvSpPr>
        <p:spPr>
          <a:xfrm>
            <a:off x="835456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4568" y="408736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Database Architecture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89204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509320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" y="564184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28160" y="489204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9328" y="509320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34" name="Text 32"/>
          <p:cNvSpPr/>
          <p:nvPr/>
        </p:nvSpPr>
        <p:spPr>
          <a:xfrm>
            <a:off x="4529328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29328" y="564184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 &amp; Progress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53400" y="4892040"/>
            <a:ext cx="350520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4568" y="5093208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38" name="Text 36"/>
          <p:cNvSpPr/>
          <p:nvPr/>
        </p:nvSpPr>
        <p:spPr>
          <a:xfrm>
            <a:off x="8354568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54568" y="5641848"/>
            <a:ext cx="3102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Testing &amp; Outcomes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Blog CMS?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Management System (CMS) lets users create, edit and publish content without touching application code.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provides a public area for readers and a secure dashboard for authors.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full-stack app: React frontend, Node.js/Express backend, MongoDB database.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rich-text editor and a drag-and-drop page builder for flexible content.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(JWT) and authorization keep management actions secure.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60920" y="1920240"/>
            <a:ext cx="4297680" cy="4023360"/>
          </a:xfrm>
          <a:prstGeom prst="roundRect">
            <a:avLst>
              <a:gd name="adj" fmla="val 1591"/>
            </a:avLst>
          </a:prstGeom>
          <a:solidFill>
            <a:srgbClr val="16233F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920240"/>
            <a:ext cx="4297680" cy="457200"/>
          </a:xfrm>
          <a:prstGeom prst="roundRect">
            <a:avLst>
              <a:gd name="adj" fmla="val 14000"/>
            </a:avLst>
          </a:prstGeom>
          <a:solidFill>
            <a:srgbClr val="1F3358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08483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845552" y="208483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8101584" y="2084832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2697480"/>
            <a:ext cx="502920" cy="502920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/ Reader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66760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published posts — no login required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39319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66760" y="4224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edits, drafts and publishes posts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516636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Builder &amp; Editor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66760" y="5458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+ drag-and-drop content blocks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&amp; Engagement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6035040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2075688"/>
            <a:ext cx="502920" cy="50292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Campus, with industry partner UniConverge Technologies Pvt. Ltd.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6035040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127248"/>
            <a:ext cx="502920" cy="50292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Intern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6035040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178808"/>
            <a:ext cx="502920" cy="50292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61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Council for Technical Education (AICTE)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6035040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5230368"/>
            <a:ext cx="502920" cy="50292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5230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120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&amp; Hours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413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engagement, 10:00 AM – 6:00 PM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95160" y="2103120"/>
            <a:ext cx="4709160" cy="3840480"/>
          </a:xfrm>
          <a:prstGeom prst="roundRect">
            <a:avLst>
              <a:gd name="adj" fmla="val 1667"/>
            </a:avLst>
          </a:prstGeom>
          <a:solidFill>
            <a:srgbClr val="16233F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2377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TIMELINE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69480" y="2697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 |  25 July – 21 August 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98080" y="3520440"/>
            <a:ext cx="3703320" cy="0"/>
          </a:xfrm>
          <a:prstGeom prst="line">
            <a:avLst/>
          </a:prstGeom>
          <a:noFill/>
          <a:ln w="25400">
            <a:solidFill>
              <a:srgbClr val="1FAF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15784" y="3438144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370332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78040" y="3977640"/>
            <a:ext cx="93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Setup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50224" y="3438144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5300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15300" y="39776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884664" y="3438144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49740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349740" y="39776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Mgmt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119104" y="3438144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84180" y="370332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584180" y="3977640"/>
            <a:ext cx="93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a Unified Blog CMS?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212080" cy="4114800"/>
          </a:xfrm>
          <a:prstGeom prst="roundRect">
            <a:avLst>
              <a:gd name="adj" fmla="val 1556"/>
            </a:avLst>
          </a:prstGeom>
          <a:solidFill>
            <a:srgbClr val="16233F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blog workflows scatter content creation, layout, storage and publishing across separate tools or manually maintained code — making them hard to maintain and secure.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single browser-based system where authenticated users manage content, while readers get a clean public interface — with structured data and controlled access throughout.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2356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23560" y="2194560"/>
            <a:ext cx="310896" cy="3108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21396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 for authors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2770632"/>
            <a:ext cx="310896" cy="3108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7157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authentication &amp; authorization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23560" y="3346704"/>
            <a:ext cx="310896" cy="3108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blog posts via REST APIs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23560" y="3922776"/>
            <a:ext cx="310896" cy="3108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38679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published post states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4498848"/>
            <a:ext cx="310896" cy="3108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44439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formatting for structured content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5074920"/>
            <a:ext cx="310896" cy="3108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50200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page builder with reusable blocks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React, Node.js, Express.js and MongoDB together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520" y="2057400"/>
            <a:ext cx="457200" cy="457200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1" name="Text 9"/>
          <p:cNvSpPr/>
          <p:nvPr/>
        </p:nvSpPr>
        <p:spPr>
          <a:xfrm>
            <a:off x="454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1520" y="263347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Frontend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1520" y="30358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navigation, dashboard, editor &amp; post components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2920" y="18288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1520" y="2057400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51520" y="263347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Builder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1520" y="30358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Heading, text, image, quote &amp; divider blocks via React-DnD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69087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REST APIs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0932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 for blog posts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2920" y="38862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1520" y="4114800"/>
            <a:ext cx="457200" cy="457200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6" name="Text 24"/>
          <p:cNvSpPr/>
          <p:nvPr/>
        </p:nvSpPr>
        <p:spPr>
          <a:xfrm>
            <a:off x="454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41520" y="469087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41520" y="50932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 &amp; bcrypt password hashing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2920" y="38862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1520" y="4114800"/>
            <a:ext cx="457200" cy="457200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51520" y="4690872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Version Control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1520" y="50932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API testing plus structured Git/GitHub history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Covered in the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402336" cy="40233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99923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JWT auth, bcrypt hashing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0420" y="182880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3300" y="2011680"/>
            <a:ext cx="402336" cy="40233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1" name="Text 9"/>
          <p:cNvSpPr/>
          <p:nvPr/>
        </p:nvSpPr>
        <p:spPr>
          <a:xfrm>
            <a:off x="35433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43300" y="254203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Management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3300" y="299923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delete; draft &amp; published states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011680"/>
            <a:ext cx="402336" cy="40233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54203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Editing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99923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editing and formatted storage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75420" y="182880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8300" y="2011680"/>
            <a:ext cx="402336" cy="40233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1" name="Text 19"/>
          <p:cNvSpPr/>
          <p:nvPr/>
        </p:nvSpPr>
        <p:spPr>
          <a:xfrm>
            <a:off x="92583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58300" y="254203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Builder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58300" y="299923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heading, text, image, quote, divider blocks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E8EFF7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160520"/>
            <a:ext cx="402336" cy="40233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" y="469087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514807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server, REST routes, middleware, validation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0420" y="397764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E8EFF7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3300" y="4160520"/>
            <a:ext cx="402336" cy="40233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31" name="Text 29"/>
          <p:cNvSpPr/>
          <p:nvPr/>
        </p:nvSpPr>
        <p:spPr>
          <a:xfrm>
            <a:off x="354330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43300" y="469087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43300" y="514807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Mongoose models for users &amp; posts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97764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E8EFF7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4160520"/>
            <a:ext cx="402336" cy="40233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469087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0" y="514807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React Router, reusable dashboard &amp; public pages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75420" y="3977640"/>
            <a:ext cx="2583180" cy="1874520"/>
          </a:xfrm>
          <a:prstGeom prst="roundRect">
            <a:avLst>
              <a:gd name="adj" fmla="val 3415"/>
            </a:avLst>
          </a:prstGeom>
          <a:solidFill>
            <a:srgbClr val="E8EFF7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58300" y="4160520"/>
            <a:ext cx="402336" cy="40233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41" name="Text 39"/>
          <p:cNvSpPr/>
          <p:nvPr/>
        </p:nvSpPr>
        <p:spPr>
          <a:xfrm>
            <a:off x="925830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258300" y="469087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258300" y="5148072"/>
            <a:ext cx="2217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API tests, responsive &amp; end-to-end checks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Powering the Blog CMS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84248"/>
            <a:ext cx="2217420" cy="457200"/>
          </a:xfrm>
          <a:prstGeom prst="roundRect">
            <a:avLst>
              <a:gd name="adj" fmla="val 12000"/>
            </a:avLst>
          </a:prstGeom>
          <a:solidFill>
            <a:srgbClr val="1FAF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84248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58952" y="2798064"/>
            <a:ext cx="82296" cy="822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9748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" y="3273552"/>
            <a:ext cx="82296" cy="822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72968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" y="3749040"/>
            <a:ext cx="82296" cy="822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48456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React-DnD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" y="4224528"/>
            <a:ext cx="82296" cy="82296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23944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Quill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604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3300" y="1984248"/>
            <a:ext cx="2217420" cy="457200"/>
          </a:xfrm>
          <a:prstGeom prst="roundRect">
            <a:avLst>
              <a:gd name="adj" fmla="val 12000"/>
            </a:avLst>
          </a:prstGeom>
          <a:solidFill>
            <a:srgbClr val="2D4A73"/>
          </a:solidFill>
          <a:ln/>
        </p:spPr>
      </p:sp>
      <p:sp>
        <p:nvSpPr>
          <p:cNvPr id="17" name="Text 15"/>
          <p:cNvSpPr/>
          <p:nvPr/>
        </p:nvSpPr>
        <p:spPr>
          <a:xfrm>
            <a:off x="3543300" y="1984248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16452" y="2798064"/>
            <a:ext cx="82296" cy="8229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19" name="Text 17"/>
          <p:cNvSpPr/>
          <p:nvPr/>
        </p:nvSpPr>
        <p:spPr>
          <a:xfrm>
            <a:off x="3817620" y="269748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16452" y="3273552"/>
            <a:ext cx="82296" cy="8229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1" name="Text 19"/>
          <p:cNvSpPr/>
          <p:nvPr/>
        </p:nvSpPr>
        <p:spPr>
          <a:xfrm>
            <a:off x="3817620" y="3172968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16452" y="3749040"/>
            <a:ext cx="82296" cy="8229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3" name="Text 21"/>
          <p:cNvSpPr/>
          <p:nvPr/>
        </p:nvSpPr>
        <p:spPr>
          <a:xfrm>
            <a:off x="3817620" y="3648456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16452" y="4224528"/>
            <a:ext cx="82296" cy="82296"/>
          </a:xfrm>
          <a:prstGeom prst="ellipse">
            <a:avLst/>
          </a:prstGeom>
          <a:solidFill>
            <a:srgbClr val="2D4A73"/>
          </a:solidFill>
          <a:ln/>
        </p:spPr>
      </p:sp>
      <p:sp>
        <p:nvSpPr>
          <p:cNvPr id="25" name="Text 23"/>
          <p:cNvSpPr/>
          <p:nvPr/>
        </p:nvSpPr>
        <p:spPr>
          <a:xfrm>
            <a:off x="3817620" y="4123944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984248"/>
            <a:ext cx="2217420" cy="457200"/>
          </a:xfrm>
          <a:prstGeom prst="roundRect">
            <a:avLst>
              <a:gd name="adj" fmla="val 12000"/>
            </a:avLst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984248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73952" y="279806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269748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73952" y="327355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3172968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754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58300" y="1984248"/>
            <a:ext cx="2217420" cy="4572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9258300" y="1984248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331452" y="2798064"/>
            <a:ext cx="82296" cy="822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7" name="Text 35"/>
          <p:cNvSpPr/>
          <p:nvPr/>
        </p:nvSpPr>
        <p:spPr>
          <a:xfrm>
            <a:off x="9532620" y="269748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331452" y="3273552"/>
            <a:ext cx="82296" cy="822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9" name="Text 37"/>
          <p:cNvSpPr/>
          <p:nvPr/>
        </p:nvSpPr>
        <p:spPr>
          <a:xfrm>
            <a:off x="9532620" y="3172968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331452" y="3749040"/>
            <a:ext cx="82296" cy="822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1" name="Text 39"/>
          <p:cNvSpPr/>
          <p:nvPr/>
        </p:nvSpPr>
        <p:spPr>
          <a:xfrm>
            <a:off x="9532620" y="3648456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Client–Server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5168" y="1965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D4A73"/>
          </a:solidFill>
          <a:ln/>
        </p:spPr>
      </p:sp>
      <p:sp>
        <p:nvSpPr>
          <p:cNvPr id="5" name="Text 3"/>
          <p:cNvSpPr/>
          <p:nvPr/>
        </p:nvSpPr>
        <p:spPr>
          <a:xfrm>
            <a:off x="700888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5400000">
            <a:off x="3133192" y="2295144"/>
            <a:ext cx="256032" cy="256032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7" name="Shape 5"/>
          <p:cNvSpPr/>
          <p:nvPr/>
        </p:nvSpPr>
        <p:spPr>
          <a:xfrm>
            <a:off x="3489808" y="1965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D4A73"/>
          </a:solidFill>
          <a:ln/>
        </p:spPr>
      </p:sp>
      <p:sp>
        <p:nvSpPr>
          <p:cNvPr id="8" name="Text 6"/>
          <p:cNvSpPr/>
          <p:nvPr/>
        </p:nvSpPr>
        <p:spPr>
          <a:xfrm>
            <a:off x="3535528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5400000">
            <a:off x="5967832" y="2295144"/>
            <a:ext cx="256032" cy="256032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10" name="Shape 8"/>
          <p:cNvSpPr/>
          <p:nvPr/>
        </p:nvSpPr>
        <p:spPr>
          <a:xfrm>
            <a:off x="6324448" y="1965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D4A73"/>
          </a:solidFill>
          <a:ln/>
        </p:spPr>
      </p:sp>
      <p:sp>
        <p:nvSpPr>
          <p:cNvPr id="11" name="Text 9"/>
          <p:cNvSpPr/>
          <p:nvPr/>
        </p:nvSpPr>
        <p:spPr>
          <a:xfrm>
            <a:off x="6370168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8802472" y="2295144"/>
            <a:ext cx="256032" cy="256032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13" name="Shape 11"/>
          <p:cNvSpPr/>
          <p:nvPr/>
        </p:nvSpPr>
        <p:spPr>
          <a:xfrm>
            <a:off x="9159088" y="1965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204808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7394296" y="3081528"/>
            <a:ext cx="237744" cy="237744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495648" y="3566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4541368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Layer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87488" y="3566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6233F"/>
          </a:solidFill>
          <a:ln/>
        </p:spPr>
      </p:sp>
      <p:sp>
        <p:nvSpPr>
          <p:cNvPr id="19" name="Text 17"/>
          <p:cNvSpPr/>
          <p:nvPr/>
        </p:nvSpPr>
        <p:spPr>
          <a:xfrm>
            <a:off x="7833208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Management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95648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 •  bcrypt hashing  •  protected routes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87488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 •  draft/published  •  author-only editing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talks to the backend only through REST APIs. The backend applies validation, authentication, authorization and business logic before touching the database.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2286000"/>
            <a:ext cx="4023360" cy="2377440"/>
          </a:xfrm>
          <a:prstGeom prst="roundRect">
            <a:avLst>
              <a:gd name="adj" fmla="val 2692"/>
            </a:avLst>
          </a:prstGeom>
          <a:solidFill>
            <a:srgbClr val="1F3358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A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37360" y="30632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(hashed)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createdDate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88175" y="2286000"/>
            <a:ext cx="4023360" cy="2377440"/>
          </a:xfrm>
          <a:prstGeom prst="roundRect">
            <a:avLst>
              <a:gd name="adj" fmla="val 2692"/>
            </a:avLst>
          </a:prstGeom>
          <a:solidFill>
            <a:srgbClr val="1F3358"/>
          </a:solidFill>
          <a:ln/>
        </p:spPr>
      </p:sp>
      <p:sp>
        <p:nvSpPr>
          <p:cNvPr id="8" name="Text 6"/>
          <p:cNvSpPr/>
          <p:nvPr/>
        </p:nvSpPr>
        <p:spPr>
          <a:xfrm>
            <a:off x="6888175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A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POST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45375" y="30632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(ref → User)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publishStatus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createdDate / updatedDate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0" y="3474720"/>
            <a:ext cx="1584655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971800"/>
            <a:ext cx="1584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3611880"/>
            <a:ext cx="158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reference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blog post stores a reference to its author's User ID — the server uses this link to restrict update and delete actions to the post's owner.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Validation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4884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Purpose / Validation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Required; trimmed; 2–60 characters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email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Required, unique, lowercase &amp; trimmed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password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Required; min 6 chars; stored as bcrypt hash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createdDate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Auto-assigned on record creation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BlogPost Model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4884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Purpose / Validation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title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Required, trimmed; 3–160 characters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content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Required; stores rich-text content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author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Required ObjectId reference to User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publishStatus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Enum: draft | published (default draft)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updatedDate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Updated via pre-save hook on each save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CMS REST Endpoint Reference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237744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/api/auth/register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Create a new user account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/api/auth/login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Verify credentials, return JWT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/api/posts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Public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List published posts (newest first)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/api/posts/:id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Public / Owner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Return a single 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/api/posts/mine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Authenticated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Return the current user's posts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/api/posts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Authenticated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Create a draft or published 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/api/posts/:id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Author 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Update title, content, 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/api/posts/:id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Author 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Delete a blog 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requests carry an Authorization: Bearer &lt;token&gt; header. A middleware layer verifies the JWT signature before any protected controller runs.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Post CRUD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588" y="237744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1FAFC4"/>
          </a:solidFill>
          <a:ln/>
        </p:spPr>
      </p:sp>
      <p:sp>
        <p:nvSpPr>
          <p:cNvPr id="5" name="Text 3"/>
          <p:cNvSpPr/>
          <p:nvPr/>
        </p:nvSpPr>
        <p:spPr>
          <a:xfrm>
            <a:off x="58658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3748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form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/posts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5400000">
            <a:off x="3087472" y="2889504"/>
            <a:ext cx="256032" cy="256032"/>
          </a:xfrm>
          <a:prstGeom prst="triangle">
            <a:avLst/>
          </a:prstGeom>
          <a:solidFill>
            <a:srgbClr val="5B6B82"/>
          </a:solidFill>
          <a:ln/>
        </p:spPr>
      </p:sp>
      <p:sp>
        <p:nvSpPr>
          <p:cNvPr id="8" name="Shape 6"/>
          <p:cNvSpPr/>
          <p:nvPr/>
        </p:nvSpPr>
        <p:spPr>
          <a:xfrm>
            <a:off x="3466948" y="237744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2D4A73"/>
          </a:solidFill>
          <a:ln/>
        </p:spPr>
      </p:sp>
      <p:sp>
        <p:nvSpPr>
          <p:cNvPr id="9" name="Text 7"/>
          <p:cNvSpPr/>
          <p:nvPr/>
        </p:nvSpPr>
        <p:spPr>
          <a:xfrm>
            <a:off x="346694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04108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public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/posts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5967832" y="2889504"/>
            <a:ext cx="256032" cy="256032"/>
          </a:xfrm>
          <a:prstGeom prst="triangle">
            <a:avLst/>
          </a:prstGeom>
          <a:solidFill>
            <a:srgbClr val="5B6B8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7308" y="237744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34730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4468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form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/posts/:id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8848192" y="2889504"/>
            <a:ext cx="256032" cy="256032"/>
          </a:xfrm>
          <a:prstGeom prst="triangle">
            <a:avLst/>
          </a:prstGeom>
          <a:solidFill>
            <a:srgbClr val="5B6B82"/>
          </a:solidFill>
          <a:ln/>
        </p:spPr>
      </p:sp>
      <p:sp>
        <p:nvSpPr>
          <p:cNvPr id="16" name="Shape 14"/>
          <p:cNvSpPr/>
          <p:nvPr/>
        </p:nvSpPr>
        <p:spPr>
          <a:xfrm>
            <a:off x="9227668" y="237744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2766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64828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/posts/:id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348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operations are protected by authentication, server-side author authorization, and Mongoose schema validation — a user can only edit or delete their own posts.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Progressive, Feature-by-Feature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0908" y="1965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2D4A73"/>
          </a:solidFill>
          <a:ln/>
        </p:spPr>
      </p:sp>
      <p:sp>
        <p:nvSpPr>
          <p:cNvPr id="5" name="Text 3"/>
          <p:cNvSpPr/>
          <p:nvPr/>
        </p:nvSpPr>
        <p:spPr>
          <a:xfrm>
            <a:off x="906628" y="19659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 Study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5400000">
            <a:off x="4171036" y="2372868"/>
            <a:ext cx="237744" cy="237744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7" name="Shape 5"/>
          <p:cNvSpPr/>
          <p:nvPr/>
        </p:nvSpPr>
        <p:spPr>
          <a:xfrm>
            <a:off x="4472788" y="1965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2D4A73"/>
          </a:solidFill>
          <a:ln/>
        </p:spPr>
      </p:sp>
      <p:sp>
        <p:nvSpPr>
          <p:cNvPr id="8" name="Text 6"/>
          <p:cNvSpPr/>
          <p:nvPr/>
        </p:nvSpPr>
        <p:spPr>
          <a:xfrm>
            <a:off x="4518508" y="19659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Project Setup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5400000">
            <a:off x="7782916" y="2372868"/>
            <a:ext cx="237744" cy="237744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10" name="Shape 8"/>
          <p:cNvSpPr/>
          <p:nvPr/>
        </p:nvSpPr>
        <p:spPr>
          <a:xfrm>
            <a:off x="8084668" y="19659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2D4A73"/>
          </a:solidFill>
          <a:ln/>
        </p:spPr>
      </p:sp>
      <p:sp>
        <p:nvSpPr>
          <p:cNvPr id="11" name="Text 9"/>
          <p:cNvSpPr/>
          <p:nvPr/>
        </p:nvSpPr>
        <p:spPr>
          <a:xfrm>
            <a:off x="8130388" y="19659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UI &amp; Builder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9598000" y="3319272"/>
            <a:ext cx="219456" cy="219456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13" name="Shape 11"/>
          <p:cNvSpPr/>
          <p:nvPr/>
        </p:nvSpPr>
        <p:spPr>
          <a:xfrm>
            <a:off x="860908" y="38404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2D4A73"/>
          </a:solidFill>
          <a:ln/>
        </p:spPr>
      </p:sp>
      <p:sp>
        <p:nvSpPr>
          <p:cNvPr id="14" name="Text 12"/>
          <p:cNvSpPr/>
          <p:nvPr/>
        </p:nvSpPr>
        <p:spPr>
          <a:xfrm>
            <a:off x="906628" y="38404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Content Management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171036" y="4247388"/>
            <a:ext cx="237744" cy="237744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472788" y="38404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2D4A73"/>
          </a:solidFill>
          <a:ln/>
        </p:spPr>
      </p:sp>
      <p:sp>
        <p:nvSpPr>
          <p:cNvPr id="17" name="Text 15"/>
          <p:cNvSpPr/>
          <p:nvPr/>
        </p:nvSpPr>
        <p:spPr>
          <a:xfrm>
            <a:off x="4518508" y="38404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Security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rot="5400000">
            <a:off x="7782916" y="4247388"/>
            <a:ext cx="237744" cy="237744"/>
          </a:xfrm>
          <a:prstGeom prst="triangle">
            <a:avLst/>
          </a:prstGeom>
          <a:solidFill>
            <a:srgbClr val="1FAF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4668" y="38404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FAFC4"/>
          </a:solidFill>
          <a:ln/>
        </p:spPr>
      </p:sp>
      <p:sp>
        <p:nvSpPr>
          <p:cNvPr id="20" name="Text 18"/>
          <p:cNvSpPr/>
          <p:nvPr/>
        </p:nvSpPr>
        <p:spPr>
          <a:xfrm>
            <a:off x="8130388" y="38404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Testing &amp; Refinement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database, authentication, content features and testing were implemented and verified incrementally across four weeks.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Four-Week Development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1F335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84248"/>
            <a:ext cx="2217420" cy="384048"/>
          </a:xfrm>
          <a:prstGeom prst="roundRect">
            <a:avLst>
              <a:gd name="adj" fmla="val 14286"/>
            </a:avLst>
          </a:prstGeom>
          <a:solidFill>
            <a:srgbClr val="1FAF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84248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963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Setup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2174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tech selection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configured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initialized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React-DnD explored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04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1F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3543300" y="1984248"/>
            <a:ext cx="2217420" cy="384048"/>
          </a:xfrm>
          <a:prstGeom prst="roundRect">
            <a:avLst>
              <a:gd name="adj" fmla="val 14286"/>
            </a:avLst>
          </a:prstGeom>
          <a:solidFill>
            <a:srgbClr val="5B8DD1"/>
          </a:solidFill>
          <a:ln/>
        </p:spPr>
      </p:sp>
      <p:sp>
        <p:nvSpPr>
          <p:cNvPr id="11" name="Text 9"/>
          <p:cNvSpPr/>
          <p:nvPr/>
        </p:nvSpPr>
        <p:spPr>
          <a:xfrm>
            <a:off x="3543300" y="1984248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3300" y="24963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FC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3300" y="3063240"/>
            <a:ext cx="22174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&amp; components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&amp; routes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Blog-post schema designed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1F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984248"/>
            <a:ext cx="2217420" cy="384048"/>
          </a:xfrm>
          <a:prstGeom prst="roundRect">
            <a:avLst>
              <a:gd name="adj" fmla="val 14286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984248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4963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2174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implemented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editor integrated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connected to APIs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API testing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75420" y="1783080"/>
            <a:ext cx="2583180" cy="4160520"/>
          </a:xfrm>
          <a:prstGeom prst="roundRect">
            <a:avLst>
              <a:gd name="adj" fmla="val 2478"/>
            </a:avLst>
          </a:prstGeom>
          <a:solidFill>
            <a:srgbClr val="1F3358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8300" y="1984248"/>
            <a:ext cx="2217420" cy="384048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9258300" y="1984248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58300" y="2496312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7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Finalization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58300" y="3063240"/>
            <a:ext cx="22174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&amp; registration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fixes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Access Controls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with a work factor of 12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520" y="20574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1" name="Text 9"/>
          <p:cNvSpPr/>
          <p:nvPr/>
        </p:nvSpPr>
        <p:spPr>
          <a:xfrm>
            <a:off x="454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1520" y="2633472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1520" y="30358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time-limited session (2-hour expiry)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2920" y="18288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1520" y="20574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1520" y="2633472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1520" y="30358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middleware checks Bearer token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690872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Authorization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0932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author ID compared to req.user 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2920" y="38862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1520" y="41148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454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1520" y="4690872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41520" y="50932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string limits, status enum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2920" y="3886200"/>
            <a:ext cx="3535680" cy="1783080"/>
          </a:xfrm>
          <a:prstGeom prst="roundRect">
            <a:avLst>
              <a:gd name="adj" fmla="val 3590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1520" y="41148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51520" y="4690872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Secrets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1520" y="5093208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excluded via .gitignore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Test Matrix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Test Area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Representative Check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7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Registration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Valid name, email &amp; password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Account created, token returned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Duplicate Email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Register with existing email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Rejected with conflict message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Login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Valid vs. invalid credentials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Accept / reject correctly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Protected Route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Request without token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Rejected as unauthorized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Author Restriction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User B edits User A's 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Rejected as forbidden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CRUD Workflow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Create, edit, retrieve, 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State changes persist correctly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Responsive UI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Desktop vs. smaller viewport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</a:rPr>
                        <a:t>Layout remains usable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combined Postman for API verification, browser DevTools for debugging, and responsive/device checks for the interface.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Faced During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2996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Errors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Request/validation errors during frontend–backend integration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Compared payloads using Postman &amp; browser DevTools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02996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Routing Issues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Some update/delete calls failed due to route &amp; middleware order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3200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Reviewed Express routing and MongoDB queries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7024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 Sync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React components didn't reflect session changes after token expiry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440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Centralized authentication state via React Context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406908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27024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Bugs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46520" y="4846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Drag-and-drop builder behaved inconsistently on small screens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5440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Used responsive mode &amp; device testing to fix breakpoints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8928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React frontend with public &amp; dashboard 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5292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Express.js backend with auth &amp; blog routes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88620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81304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integration via Mongoose models &amp; 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84632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7731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blog CRUD with draft/published states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18928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editor + drag-and-drop page builder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85292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bcrypt password hashing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88620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381304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Author-level authorization on update/delete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846320"/>
            <a:ext cx="329184" cy="329184"/>
          </a:xfrm>
          <a:prstGeom prst="ellipse">
            <a:avLst/>
          </a:prstGeom>
          <a:solidFill>
            <a:srgbClr val="1FAFC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47731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layouts tested across screen sizes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669280"/>
            <a:ext cx="11155680" cy="594360"/>
          </a:xfrm>
          <a:prstGeom prst="roundRect">
            <a:avLst>
              <a:gd name="adj" fmla="val 10769"/>
            </a:avLst>
          </a:prstGeom>
          <a:solidFill>
            <a:srgbClr val="F2F5FA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feature-complete foundation for future CMS capabilities: roles, media handling, search, analytics and deployment.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Practical, End-to-End Learning Experience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Blog CMS internship moved from requirements and setup through implementation, security, debugging, testing and final readiness — connecting classroom concepts to real full-stack development practice.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0358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administration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566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uploads &amp; categories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169664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0965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filtering &amp; comments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700016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6268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production deployment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2788920"/>
            <a:ext cx="5029200" cy="2834640"/>
          </a:xfrm>
          <a:prstGeom prst="roundRect">
            <a:avLst>
              <a:gd name="adj" fmla="val 2258"/>
            </a:avLst>
          </a:prstGeom>
          <a:solidFill>
            <a:srgbClr val="1F335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A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Raj Saxena  |  2410030189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IILM University, Greater Noida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11535" y="6473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CMS  |  Internship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Blog Content Management System — Internship Report</dc:title>
  <dc:subject>PptxGenJS Presentation</dc:subject>
  <dc:creator>Aditya Raj Saxena</dc:creator>
  <cp:lastModifiedBy>Aditya Raj Saxena</cp:lastModifiedBy>
  <cp:revision>1</cp:revision>
  <dcterms:created xsi:type="dcterms:W3CDTF">2026-08-25T09:06:16Z</dcterms:created>
  <dcterms:modified xsi:type="dcterms:W3CDTF">2026-08-25T09:06:16Z</dcterms:modified>
</cp:coreProperties>
</file>